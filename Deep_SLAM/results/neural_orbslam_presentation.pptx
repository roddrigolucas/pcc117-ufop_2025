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9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2836" y="560445"/>
            <a:ext cx="83783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rPr lang="pt-BR" sz="3200" dirty="0"/>
              <a:t>PCC 117 – </a:t>
            </a:r>
            <a:r>
              <a:rPr lang="pt-BR" sz="3200" dirty="0" err="1"/>
              <a:t>Deep</a:t>
            </a:r>
            <a:r>
              <a:rPr lang="pt-BR" sz="3200" dirty="0"/>
              <a:t> Learning e Redes Neurais</a:t>
            </a:r>
            <a:r>
              <a:rPr sz="3200" dirty="0"/>
              <a:t>• DECOM/UFOP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EF4"/>
                </a:solidFill>
              </a:defRPr>
            </a:pPr>
            <a:r>
              <a:t>Neural ORB-SLAM: Integrando Deep Learning ao Pipeline SLAM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A8FA8"/>
                </a:solidFill>
              </a:defRPr>
            </a:pPr>
            <a:r>
              <a:rPr dirty="0"/>
              <a:t>Uma </a:t>
            </a:r>
            <a:r>
              <a:rPr dirty="0" err="1"/>
              <a:t>Extensão</a:t>
            </a:r>
            <a:r>
              <a:rPr dirty="0"/>
              <a:t> </a:t>
            </a:r>
            <a:r>
              <a:rPr dirty="0" err="1"/>
              <a:t>Híbrida</a:t>
            </a:r>
            <a:r>
              <a:rPr dirty="0"/>
              <a:t> para </a:t>
            </a:r>
            <a:r>
              <a:rPr dirty="0" err="1"/>
              <a:t>Robôs</a:t>
            </a:r>
            <a:r>
              <a:rPr dirty="0"/>
              <a:t> </a:t>
            </a:r>
            <a:r>
              <a:rPr dirty="0" err="1"/>
              <a:t>Móveis</a:t>
            </a:r>
            <a:r>
              <a:rPr dirty="0"/>
              <a:t> Sem </a:t>
            </a:r>
            <a:r>
              <a:rPr dirty="0" err="1"/>
              <a:t>Dependência</a:t>
            </a:r>
            <a:r>
              <a:rPr dirty="0"/>
              <a:t> de </a:t>
            </a:r>
            <a:r>
              <a:rPr dirty="0" err="1"/>
              <a:t>Odometria</a:t>
            </a:r>
            <a:r>
              <a:rPr dirty="0"/>
              <a:t> </a:t>
            </a:r>
            <a:r>
              <a:rPr dirty="0" err="1"/>
              <a:t>Tradicional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8EEF4"/>
                </a:solidFill>
              </a:defRPr>
            </a:pPr>
            <a:r>
              <a:t>Rodrigo Lucas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A8FA8"/>
                </a:solidFill>
              </a:defRPr>
            </a:pPr>
            <a:r>
              <a:t>rodrigo.lucas@aluno.ufop.edu.br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A8FA8"/>
                </a:solidFill>
              </a:defRPr>
            </a:pPr>
            <a:r>
              <a:t>Universidade Federal de Ouro Preto •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2/15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Motivação e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Por que SLAM tradicional falha?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Metodologia Proposta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Arquitetura Neural ORB-SLAM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Design Experimental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46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Datasets, métricas e baselines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09728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Resultados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417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Análise quantitativa e qualitativa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201168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Discussão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331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Análise crítica e limitações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292608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9260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Conclusões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246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Contribuições e trabalhos futuros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O Problema: Limitações do SLAM Tradicional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⚡  Variação de Iluminação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A8FA8"/>
                </a:solidFill>
              </a:defRPr>
            </a:pPr>
            <a:r>
              <a:t>ORB/SIFT falham em baixa luz ou mudanças bruscas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8229600" cy="7772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📷  Ambientes de Baixa Textura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A8FA8"/>
                </a:solidFill>
              </a:defRPr>
            </a:pPr>
            <a:r>
              <a:t>Paredes brancas, corredores sem características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8229600" cy="7772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🎯  Ambiguidade de Escala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A8FA8"/>
                </a:solidFill>
              </a:defRPr>
            </a:pPr>
            <a:r>
              <a:t>Câmeras monoculares perdem referência métrica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19"/>
            <a:ext cx="8229600" cy="7772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79475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EF4"/>
                </a:solidFill>
              </a:defRPr>
            </a:pPr>
            <a:r>
              <a:t>🚶  Objetos Dinâmicos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7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A8FA8"/>
                </a:solidFill>
              </a:defRPr>
            </a:pPr>
            <a:r>
              <a:t>Pessoas e veículos degradam estimação de 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663440"/>
            <a:ext cx="3657600" cy="411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4709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Taxa de falha: 25.7% em cenários desafiadores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4/15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Proposta: Neural ORB-SLAM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A8FA8"/>
                </a:solidFill>
              </a:defRPr>
            </a:pPr>
            <a:r>
              <a:t>Arquitetura híbrida: Deep Learning + Otimização Geométrica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03120" cy="365760"/>
          </a:xfrm>
          <a:prstGeom prst="rect">
            <a:avLst/>
          </a:prstGeom>
          <a:solidFill>
            <a:srgbClr val="00D4FF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Componente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03120" cy="365760"/>
          </a:xfrm>
          <a:prstGeom prst="rect">
            <a:avLst/>
          </a:prstGeom>
          <a:solidFill>
            <a:srgbClr val="00D4FF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144475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ORB-SLAM Original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2103120" cy="365760"/>
          </a:xfrm>
          <a:prstGeom prst="rect">
            <a:avLst/>
          </a:prstGeom>
          <a:solidFill>
            <a:srgbClr val="00D4FF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144475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Neural ORB-SLAM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55648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Extração de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755648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828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ORB Detector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755648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1828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SuperPoint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39696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2128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Matching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139696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22128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BF Matcher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139696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0" y="22128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SuperGlue (GNN)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23744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596896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Estimação de Depth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523744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34640" y="2596896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Sensor LiDAR/RGB-D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523744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2596896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MiDaS v3.1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07792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2980944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Loop Closing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907792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2980944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DBoW2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2907792"/>
            <a:ext cx="2103120" cy="365760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0" y="2980944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NetVLAD + Transformers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Benefícios da Abordagem Híbrida: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4"/>
                </a:solidFill>
              </a:defRPr>
            </a:pPr>
            <a:r>
              <a:t>✓ Robustez de features aprendidas + precisão geométrica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4"/>
                </a:solidFill>
              </a:defRPr>
            </a:pPr>
            <a:r>
              <a:t>✓ Operação monocular sem sensores de profundidade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4"/>
                </a:solidFill>
              </a:defRPr>
            </a:pPr>
            <a:r>
              <a:t>✓ Framework modular e extensível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rPr dirty="0"/>
              <a:t>Neural ORB-SLAM • 5/15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Arquitetura do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097280" cy="457200"/>
          </a:xfrm>
          <a:prstGeom prst="round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984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Imagem RGB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188720"/>
            <a:ext cx="10972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2984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628"/>
                </a:solidFill>
              </a:defRPr>
            </a:pPr>
            <a:r>
              <a:rPr dirty="0" err="1"/>
              <a:t>SuperPoint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834640" y="1188720"/>
            <a:ext cx="10972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2984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628"/>
                </a:solidFill>
              </a:defRPr>
            </a:pPr>
            <a:r>
              <a:t>MiDaS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188720"/>
            <a:ext cx="10972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2984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A1628"/>
                </a:solidFill>
              </a:defRPr>
            </a:pPr>
            <a:r>
              <a:t>SuperGlue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188720"/>
            <a:ext cx="1097280" cy="457200"/>
          </a:xfrm>
          <a:prstGeom prst="round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12984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PnP+RANSAC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188720"/>
            <a:ext cx="1097280" cy="457200"/>
          </a:xfrm>
          <a:prstGeom prst="round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12984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Bundle Adj.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188720"/>
            <a:ext cx="109728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12984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Pose 3D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371600" y="1325880"/>
            <a:ext cx="182880" cy="182880"/>
          </a:xfrm>
          <a:prstGeom prst="rightArrow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2651760" y="1325880"/>
            <a:ext cx="182880" cy="182880"/>
          </a:xfrm>
          <a:prstGeom prst="rightArrow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3931920" y="1325880"/>
            <a:ext cx="182880" cy="182880"/>
          </a:xfrm>
          <a:prstGeom prst="rightArrow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5212080" y="1325880"/>
            <a:ext cx="182880" cy="182880"/>
          </a:xfrm>
          <a:prstGeom prst="rightArrow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6492240" y="1325880"/>
            <a:ext cx="182880" cy="182880"/>
          </a:xfrm>
          <a:prstGeom prst="rightArrow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7772400" y="1325880"/>
            <a:ext cx="182879" cy="182880"/>
          </a:xfrm>
          <a:prstGeom prst="rightArrow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1920240"/>
            <a:ext cx="274320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1901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8EEF4"/>
                </a:solidFill>
              </a:defRPr>
            </a:pPr>
            <a:r>
              <a:t>Módulos Neurais (Deep Learning)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920240"/>
            <a:ext cx="274320" cy="18288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0" y="1901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8EEF4"/>
                </a:solidFill>
              </a:defRPr>
            </a:pPr>
            <a:r>
              <a:rPr dirty="0" err="1"/>
              <a:t>Módulos</a:t>
            </a:r>
            <a:r>
              <a:rPr dirty="0"/>
              <a:t> </a:t>
            </a:r>
            <a:r>
              <a:rPr dirty="0" err="1"/>
              <a:t>Geométricos</a:t>
            </a:r>
            <a:r>
              <a:rPr dirty="0"/>
              <a:t> (</a:t>
            </a:r>
            <a:r>
              <a:rPr dirty="0" err="1"/>
              <a:t>Clássico</a:t>
            </a:r>
            <a:r>
              <a:rPr dirty="0"/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920240"/>
            <a:ext cx="27432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19019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8EEF4"/>
                </a:solidFill>
              </a:defRPr>
            </a:pPr>
            <a:r>
              <a:t>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468880"/>
            <a:ext cx="8229600" cy="5486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254203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rPr dirty="0" err="1"/>
              <a:t>SuperPoint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40080" y="276148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rPr dirty="0"/>
              <a:t>CNN encoder-decoder para </a:t>
            </a:r>
            <a:r>
              <a:rPr dirty="0" err="1"/>
              <a:t>detecção</a:t>
            </a:r>
            <a:r>
              <a:rPr dirty="0"/>
              <a:t> de </a:t>
            </a:r>
            <a:r>
              <a:rPr dirty="0" err="1"/>
              <a:t>keypoints</a:t>
            </a:r>
            <a:r>
              <a:rPr dirty="0"/>
              <a:t> e </a:t>
            </a:r>
            <a:r>
              <a:rPr dirty="0" err="1"/>
              <a:t>extração</a:t>
            </a:r>
            <a:r>
              <a:rPr dirty="0"/>
              <a:t> de </a:t>
            </a:r>
            <a:r>
              <a:rPr dirty="0" err="1"/>
              <a:t>descritores</a:t>
            </a:r>
            <a:r>
              <a:rPr dirty="0"/>
              <a:t> (256-D)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063240"/>
            <a:ext cx="8229600" cy="5486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1363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rPr dirty="0" err="1"/>
              <a:t>MiDaS</a:t>
            </a:r>
            <a:r>
              <a:rPr dirty="0"/>
              <a:t> v3.1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35584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rPr dirty="0" err="1"/>
              <a:t>Estimação</a:t>
            </a:r>
            <a:r>
              <a:rPr dirty="0"/>
              <a:t> de </a:t>
            </a:r>
            <a:r>
              <a:rPr dirty="0" err="1"/>
              <a:t>profundidade</a:t>
            </a:r>
            <a:r>
              <a:rPr dirty="0"/>
              <a:t> monocular com Vision Transformers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657600"/>
            <a:ext cx="8229600" cy="5486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7307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rPr dirty="0" err="1"/>
              <a:t>SuperGlue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640080" y="395020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Graph Neural Network para matching de features com atenção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51960"/>
            <a:ext cx="8229600" cy="5486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432511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rPr dirty="0"/>
              <a:t>Bundle Adjustment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54456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rPr dirty="0" err="1"/>
              <a:t>Otimização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-linear de poses e </a:t>
            </a:r>
            <a:r>
              <a:rPr dirty="0" err="1"/>
              <a:t>pontos</a:t>
            </a:r>
            <a:r>
              <a:rPr dirty="0"/>
              <a:t> 3D (Levenberg-Marquardt)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6/15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SuperPoint: Feature Extraction Neural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828800" cy="137160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VGG-style 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Conv 3×3 → ReLU</a:t>
            </a:r>
            <a:br/>
            <a:r>
              <a:t>↓</a:t>
            </a:r>
            <a:br/>
            <a:r>
              <a:t>Pool 2×2</a:t>
            </a:r>
            <a:br/>
            <a:r>
              <a:t>(8× downsampling)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1737360"/>
            <a:ext cx="457200" cy="274320"/>
          </a:xfrm>
          <a:prstGeom prst="rightArrow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0" y="1005840"/>
            <a:ext cx="2286000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097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Keypoint Decoder</a:t>
            </a:r>
            <a:br/>
            <a:r>
              <a:t>Output: H×W heatmap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920240"/>
            <a:ext cx="2286000" cy="8229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Descriptor Decoder</a:t>
            </a:r>
            <a:br/>
            <a:r>
              <a:t>Output: H/8×W/8×256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Vantagens sobre ORB: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29000"/>
            <a:ext cx="2011680" cy="10972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+47%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8EEF4"/>
                </a:solidFill>
              </a:defRPr>
            </a:pPr>
            <a:r>
              <a:t>Repeatability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7A8FA8"/>
                </a:solidFill>
              </a:defRPr>
            </a:pPr>
            <a:r>
              <a:t>Maior consistência na detecção de keypoints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3429000"/>
            <a:ext cx="2011680" cy="10972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06040" y="3520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256-D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8862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8EEF4"/>
                </a:solidFill>
              </a:defRPr>
            </a:pPr>
            <a:r>
              <a:t>Descriptors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7A8FA8"/>
                </a:solidFill>
              </a:defRPr>
            </a:pPr>
            <a:r>
              <a:t>Mais discriminativos que ORB (32 bytes)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429000"/>
            <a:ext cx="2011680" cy="10972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520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18ms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8862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8EEF4"/>
                </a:solidFill>
              </a:defRPr>
            </a:pPr>
            <a:r>
              <a:t>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7A8FA8"/>
                </a:solidFill>
              </a:defRPr>
            </a:pPr>
            <a:r>
              <a:t>Processamento em tempo real em GPU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3429000"/>
            <a:ext cx="2011680" cy="10972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3520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4×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8862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8EEF4"/>
                </a:solidFill>
              </a:defRPr>
            </a:pPr>
            <a:r>
              <a:t>Robustness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7A8FA8"/>
                </a:solidFill>
              </a:defRPr>
            </a:pPr>
            <a:r>
              <a:t>Melhor performance sob variação de iluminação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7/15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Design Experimental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931920" cy="20116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📊 Dataset: KITTI Odometry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22 sequências (00-21)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43.000+ frames estéreo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3794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Ground truth: GPS/INS RTK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9397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Resolução: 1241×376 pixels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Ambiente: urbano/rodovia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914400"/>
            <a:ext cx="4114800" cy="20116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00584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🖥️ Hardware de Teste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32588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CPU: AMD Ryzen 7 5800X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58191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GPU: NVIDIA RTX 3080 10GB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3794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RAM: 32GB DDR4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93976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Framework: PyTorch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50008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CUDA: 11.8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Métricas de Avaliação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832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Absolute Trajectory Error - erro médio após alinhamento Sim(3)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758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RPE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75888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Relative Pose Error - erro relativo entre frames consecutivos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6849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Track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68496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Percentual de frames processados sem perda de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6110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261104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Throughput de processamento (frames por segundo)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Baselines: ORB-SLAM2, ORB-SLAM3, DROID-SLAM, DeepVO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8/15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Resultados: KITTI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011680" cy="320040"/>
          </a:xfrm>
          <a:prstGeom prst="rect">
            <a:avLst/>
          </a:prstGeom>
          <a:solidFill>
            <a:srgbClr val="00D4FF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868680"/>
            <a:ext cx="1463040" cy="320040"/>
          </a:xfrm>
          <a:prstGeom prst="rect">
            <a:avLst/>
          </a:prstGeom>
          <a:solidFill>
            <a:srgbClr val="00D4FF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91440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ATE (m)↓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868680"/>
            <a:ext cx="1371600" cy="320040"/>
          </a:xfrm>
          <a:prstGeom prst="rect">
            <a:avLst/>
          </a:prstGeom>
          <a:solidFill>
            <a:srgbClr val="00D4FF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914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RPE (%)↓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868680"/>
            <a:ext cx="1371600" cy="320040"/>
          </a:xfrm>
          <a:prstGeom prst="rect">
            <a:avLst/>
          </a:prstGeom>
          <a:solidFill>
            <a:srgbClr val="00D4FF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914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Track (%)↑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868680"/>
            <a:ext cx="1097280" cy="320040"/>
          </a:xfrm>
          <a:prstGeom prst="rect">
            <a:avLst/>
          </a:prstGeom>
          <a:solidFill>
            <a:srgbClr val="00D4FF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914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FPS↑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207008"/>
            <a:ext cx="201168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2801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ORB-SLAM2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207008"/>
            <a:ext cx="146304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128016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15.42±2.31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207008"/>
            <a:ext cx="137160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0" y="12801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1.21±0.18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207008"/>
            <a:ext cx="137160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0" y="12801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74.2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207008"/>
            <a:ext cx="109728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2801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28.5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572768"/>
            <a:ext cx="201168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16459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ORB-SLAM3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1572768"/>
            <a:ext cx="146304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8880" y="164592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11.88±1.89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1572768"/>
            <a:ext cx="137160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1920" y="16459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1.12±0.15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1572768"/>
            <a:ext cx="137160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0" y="16459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82.1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1572768"/>
            <a:ext cx="109728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164592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31.2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938528"/>
            <a:ext cx="201168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01168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DROID-SLAM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1938528"/>
            <a:ext cx="146304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68880" y="2011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6.23±0.98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1938528"/>
            <a:ext cx="137160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0" y="20116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0.78±0.11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1938528"/>
            <a:ext cx="137160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0" y="20116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97.3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1938528"/>
            <a:ext cx="109728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20116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8.4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304288"/>
            <a:ext cx="201168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237744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DeepVO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2304288"/>
            <a:ext cx="146304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68880" y="237744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18.75±3.42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2304288"/>
            <a:ext cx="137160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31920" y="237744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2.15±0.32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2304288"/>
            <a:ext cx="137160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03520" y="237744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68.5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2304288"/>
            <a:ext cx="1097280" cy="347472"/>
          </a:xfrm>
          <a:prstGeom prst="rect">
            <a:avLst/>
          </a:prstGeom>
          <a:solidFill>
            <a:srgbClr val="1A2940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0" y="23774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8EEF4"/>
                </a:solidFill>
              </a:defRPr>
            </a:pPr>
            <a:r>
              <a:t>42.1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670048"/>
            <a:ext cx="2011680" cy="347472"/>
          </a:xfrm>
          <a:prstGeom prst="rect">
            <a:avLst/>
          </a:prstGeom>
          <a:solidFill>
            <a:srgbClr val="FF6B35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27432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Neural ORB-SLAM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0" y="2670048"/>
            <a:ext cx="1463040" cy="347472"/>
          </a:xfrm>
          <a:prstGeom prst="rect">
            <a:avLst/>
          </a:prstGeom>
          <a:solidFill>
            <a:srgbClr val="FF6B35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68880" y="274320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8.91±1.24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2670048"/>
            <a:ext cx="1371600" cy="347472"/>
          </a:xfrm>
          <a:prstGeom prst="rect">
            <a:avLst/>
          </a:prstGeom>
          <a:solidFill>
            <a:srgbClr val="FF6B35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31920" y="27432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0.94±0.13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0" y="2670048"/>
            <a:ext cx="1371600" cy="347472"/>
          </a:xfrm>
          <a:prstGeom prst="rect">
            <a:avLst/>
          </a:prstGeom>
          <a:solidFill>
            <a:srgbClr val="FF6B35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03520" y="27432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91.8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2670048"/>
            <a:ext cx="1097280" cy="347472"/>
          </a:xfrm>
          <a:prstGeom prst="rect">
            <a:avLst/>
          </a:prstGeom>
          <a:solidFill>
            <a:srgbClr val="FF6B35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75120" y="27432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18.3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Principais Resultados vs ORB-SLAM3: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3383280"/>
            <a:ext cx="2011680" cy="10058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</a:defRPr>
            </a:pPr>
            <a:r>
              <a:t>-42.2%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3840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8EEF4"/>
                </a:solidFill>
              </a:defRPr>
            </a:pPr>
            <a:r>
              <a:t>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0690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Redução do erro absoluto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651760" y="3383280"/>
            <a:ext cx="2011680" cy="10058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651760" y="3474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</a:defRPr>
            </a:pPr>
            <a:r>
              <a:t>+23.7%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51760" y="3840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8EEF4"/>
                </a:solidFill>
              </a:defRPr>
            </a:pPr>
            <a:r>
              <a:t>Tracking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51760" y="40690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Melhoria na taxa de sucesso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846320" y="3383280"/>
            <a:ext cx="2011680" cy="10058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846320" y="3474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</a:defRPr>
            </a:pPr>
            <a:r>
              <a:t>2.18×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0" y="3840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8EEF4"/>
                </a:solidFill>
              </a:defRPr>
            </a:pPr>
            <a:r>
              <a:t>Velocidade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6320" y="40690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Mais rápido que DROID-SLAM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040879" y="3383280"/>
            <a:ext cx="2011680" cy="10058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040879" y="3474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</a:defRPr>
            </a:pPr>
            <a:r>
              <a:t>18.3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79" y="3840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8EEF4"/>
                </a:solidFill>
              </a:defRPr>
            </a:pPr>
            <a:r>
              <a:t>FPS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0879" y="40690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Tempo real garantido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9/15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Análise de Robustez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A8FA8"/>
                </a:solidFill>
              </a:defRPr>
            </a:pPr>
            <a:r>
              <a:t>Degradação de performance sob perturbações sintéticas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EF4"/>
                </a:solidFill>
              </a:defRPr>
            </a:pPr>
            <a:r>
              <a:t>Variação de Iluminação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FA8"/>
                </a:solidFill>
              </a:defRPr>
            </a:pPr>
            <a:r>
              <a:t>ORB-SLAM3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508760"/>
            <a:ext cx="1563624" cy="22860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15384" y="150876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8FA8"/>
                </a:solidFill>
              </a:defRPr>
            </a:pPr>
            <a:r>
              <a:t>34.2%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FA8"/>
                </a:solidFill>
              </a:defRPr>
            </a:pPr>
            <a:r>
              <a:t>Neural ORB-SLAM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801368"/>
            <a:ext cx="379476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1236" y="180136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3113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EF4"/>
                </a:solidFill>
              </a:defRPr>
            </a:pPr>
            <a:r>
              <a:t>Motion Blur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51176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FA8"/>
                </a:solidFill>
              </a:defRPr>
            </a:pPr>
            <a:r>
              <a:t>ORB-SLAM3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551176"/>
            <a:ext cx="2089404" cy="22860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41164" y="25511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8FA8"/>
                </a:solidFill>
              </a:defRPr>
            </a:pPr>
            <a:r>
              <a:t>45.7%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43784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FA8"/>
                </a:solidFill>
              </a:defRPr>
            </a:pPr>
            <a:r>
              <a:t>Neural ORB-SLAM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843784"/>
            <a:ext cx="553212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4972" y="284378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12.1%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735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EF4"/>
                </a:solidFill>
              </a:defRPr>
            </a:pPr>
            <a:r>
              <a:t>Oclusão Parcial (40%)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93592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FA8"/>
                </a:solidFill>
              </a:defRPr>
            </a:pPr>
            <a:r>
              <a:t>ORB-SLAM3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3593592"/>
            <a:ext cx="4572000" cy="2286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359359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757"/>
                </a:solidFill>
              </a:defRPr>
            </a:pPr>
            <a:r>
              <a:t>FALHA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FA8"/>
                </a:solidFill>
              </a:defRPr>
            </a:pPr>
            <a:r>
              <a:t>Neural ORB-SLAM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886200"/>
            <a:ext cx="1303020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4780" y="388620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28.5%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79"/>
            <a:ext cx="4572000" cy="737771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4692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EF4"/>
                </a:solidFill>
              </a:defRPr>
            </a:pPr>
            <a:r>
              <a:rPr dirty="0"/>
              <a:t>💡 Neural ORB-SLAM </a:t>
            </a:r>
            <a:r>
              <a:rPr dirty="0" err="1"/>
              <a:t>mantém</a:t>
            </a:r>
            <a:r>
              <a:rPr dirty="0"/>
              <a:t> tracking </a:t>
            </a:r>
            <a:r>
              <a:rPr dirty="0" err="1"/>
              <a:t>mesmo</a:t>
            </a:r>
            <a:r>
              <a:rPr dirty="0"/>
              <a:t> com 40% de </a:t>
            </a:r>
            <a:r>
              <a:rPr dirty="0" err="1"/>
              <a:t>oclusão</a:t>
            </a:r>
            <a:r>
              <a:rPr dirty="0"/>
              <a:t>, </a:t>
            </a:r>
            <a:r>
              <a:rPr dirty="0" err="1"/>
              <a:t>onde</a:t>
            </a:r>
            <a:r>
              <a:rPr dirty="0"/>
              <a:t> ORB-SLAM3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completamente</a:t>
            </a:r>
            <a:r>
              <a:rPr dirty="0"/>
              <a:t>. A </a:t>
            </a:r>
            <a:r>
              <a:rPr dirty="0" err="1"/>
              <a:t>robustez</a:t>
            </a:r>
            <a:r>
              <a:rPr dirty="0"/>
              <a:t> de features </a:t>
            </a:r>
            <a:r>
              <a:rPr dirty="0" err="1"/>
              <a:t>aprendidas</a:t>
            </a:r>
            <a:r>
              <a:rPr dirty="0"/>
              <a:t> é 4× superior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condições</a:t>
            </a:r>
            <a:r>
              <a:rPr dirty="0"/>
              <a:t> </a:t>
            </a:r>
            <a:r>
              <a:rPr dirty="0" err="1"/>
              <a:t>adversas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10/15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Análise de Tempo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EEF4"/>
                </a:solidFill>
              </a:defRPr>
            </a:pPr>
            <a:r>
              <a:t>SuperPoint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051560"/>
            <a:ext cx="3364991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50991" y="10058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18.4ms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EEF4"/>
                </a:solidFill>
              </a:defRPr>
            </a:pPr>
            <a:r>
              <a:t>MiDaS Depth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417320"/>
            <a:ext cx="2779776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65776" y="1371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15.2ms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EEF4"/>
                </a:solidFill>
              </a:defRPr>
            </a:pPr>
            <a:r>
              <a:t>SuperGlue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783080"/>
            <a:ext cx="2322576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7373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12.7ms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EEF4"/>
                </a:solidFill>
              </a:defRPr>
            </a:pPr>
            <a:r>
              <a:t>PnP+RANSAC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148840"/>
            <a:ext cx="694944" cy="22860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80944" y="21031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A8FA8"/>
                </a:solidFill>
              </a:defRPr>
            </a:pPr>
            <a:r>
              <a:t>3.8ms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EEF4"/>
                </a:solidFill>
              </a:defRPr>
            </a:pPr>
            <a:r>
              <a:t>Bundle Adj.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514600"/>
            <a:ext cx="768096" cy="22860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54096" y="2468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A8FA8"/>
                </a:solidFill>
              </a:defRPr>
            </a:pPr>
            <a:r>
              <a:t>4.2ms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Total: 54.7ms/frame → 18.3 FPS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65235" y="2687069"/>
            <a:ext cx="3657600" cy="210312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212080" y="278365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Comparação de 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1148" y="299369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E8EEF4"/>
                </a:solidFill>
              </a:defRPr>
            </a:pPr>
            <a:r>
              <a:t>DeepVO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7315" y="2954751"/>
            <a:ext cx="1283208" cy="18288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35635" y="3219927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E8EEF4"/>
                </a:solidFill>
              </a:defRPr>
            </a:pPr>
            <a:r>
              <a:t>ORB-SLAM3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7315" y="3247359"/>
            <a:ext cx="950976" cy="18288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35635" y="3512535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E8EEF4"/>
                </a:solidFill>
              </a:defRPr>
            </a:pPr>
            <a:r>
              <a:t>ORB-SLAM2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47315" y="3539967"/>
            <a:ext cx="868680" cy="18288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35635" y="3805143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EEF4"/>
                </a:solidFill>
              </a:defRPr>
            </a:pPr>
            <a:r>
              <a:t>Neural ORB-SLAM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47315" y="3832575"/>
            <a:ext cx="557784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35635" y="4097751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E8EEF4"/>
                </a:solidFill>
              </a:defRPr>
            </a:pPr>
            <a:r>
              <a:t>DROID-SLAM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7315" y="4125183"/>
            <a:ext cx="256032" cy="182880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Potencial de Otimização: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03320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TensorRT: estimativa de 2.5× speedup nos módulos neurais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9592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Quantização INT8: redução de 40% no tempo de inferência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88536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Edge TPU: deployment em hardware embarcado para robôs móveis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11/15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Discussão: Respostas às Questões de Pesquisa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8229600" cy="8686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0584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EF4"/>
                </a:solidFill>
              </a:defRPr>
            </a:pPr>
            <a:r>
              <a:t>Deep learning melhora features?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005840"/>
            <a:ext cx="1371600" cy="2743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0241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+47% repeatability, 4× robustez em iluminação adversa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8229600" cy="8686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6596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EF4"/>
                </a:solidFill>
              </a:defRPr>
            </a:pPr>
            <a:r>
              <a:t>Depth monocular substitui sensores?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965960"/>
            <a:ext cx="1371600" cy="27432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198424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PARCIAL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Efetivo para recuperação de escala, mas requer calibração inicial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8229600" cy="8686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RQ3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260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EF4"/>
                </a:solidFill>
              </a:defRPr>
            </a:pPr>
            <a:r>
              <a:t>Trade-off precisão vs velocidade?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926080"/>
            <a:ext cx="1371600" cy="2743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294436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FAVORÁVEL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18.3 FPS em tempo real, 2.18× mais rápido que DROID-SLAM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94760"/>
            <a:ext cx="8229600" cy="8686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RQ4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8620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EF4"/>
                </a:solidFill>
              </a:defRPr>
            </a:pPr>
            <a:r>
              <a:t>Híbrido supera abordagens puras?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3886200"/>
            <a:ext cx="1371600" cy="2743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390448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SIM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Melhor que geométrico puro e neural puro em métricas combinadas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12/15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Limitações e Trabalhos Futuros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931920" cy="228600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4757"/>
                </a:solidFill>
              </a:defRPr>
            </a:pPr>
            <a:r>
              <a:t>⚠️ Limitações Identificadas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Dependência de GPU para inferência em tempo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Calibração inicial necessária para MiDaS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96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Generalização limitada para domínios específicos (underwater, aéreo)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Loop closing neural não totalmente avaliado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914400"/>
            <a:ext cx="4114800" cy="228600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00584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88"/>
                </a:solidFill>
              </a:defRPr>
            </a:pPr>
            <a:r>
              <a:t>🚀 Trabalhos Futuros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Otimização para hardware embarcado (TensorRT, Edge TPU)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7556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Aprendizado auto-supervisionado para adaptação de domínio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396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Fusão visual-inercial com IMU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5237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8EEF4"/>
                </a:solidFill>
              </a:defRPr>
            </a:pPr>
            <a:r>
              <a:t>• SLAM semântico com segmentação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Roadmap de Desenvolvimento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2011680" cy="6400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822191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Q1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4164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Validação com robô Scramble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3749039"/>
            <a:ext cx="2011680" cy="6400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3822191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Q2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04164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Otimização TensorRT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3749039"/>
            <a:ext cx="2011680" cy="6400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3822191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Q3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04164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Integração visual-inercial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79" y="3749039"/>
            <a:ext cx="2011680" cy="64008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79" y="3822191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Q4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19" y="404164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Publicação e open-source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13/15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Contribuições do Trabalho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8229600" cy="10058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🏗️  Arquitetura Híbrida Modular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Framework extensível que permite substituição individual de componentes neural/geométrico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8229600" cy="10058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📊  Análise Comparativa Abrangente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Estudo sistemático comparando abordagens tradicionais, neurais e híbridas em múltiplas métricas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8229600" cy="100584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💻  Implementação Open-Source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A8FA8"/>
                </a:solidFill>
              </a:defRPr>
            </a:pPr>
            <a:r>
              <a:t>Código disponibilizado publicamente para reprodutibilidade e extensão pela comunidade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Impacto Esperado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Publicação: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EEF4"/>
                </a:solidFill>
              </a:defRPr>
            </a:pPr>
            <a:r>
              <a:t>ICRA/IROS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6177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Código: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177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EEF4"/>
                </a:solidFill>
              </a:defRPr>
            </a:pPr>
            <a:r>
              <a:t>GitHub Open-Source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6177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FA8"/>
                </a:solidFill>
              </a:defRPr>
            </a:pPr>
            <a:r>
              <a:t>Aplicação: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6177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EEF4"/>
                </a:solidFill>
              </a:defRPr>
            </a:pPr>
            <a:r>
              <a:t>Robótica Móvel Indoor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0" y="47777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FA8"/>
                </a:solidFill>
              </a:defRPr>
            </a:pPr>
            <a:r>
              <a:t>Neural ORB-SLAM • 14/15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Conclusão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8EEF4"/>
                </a:solidFill>
              </a:defRPr>
            </a:pPr>
            <a:r>
              <a:t>Neural ORB-SLAM demonstra que a integração de módulos de deep learning ao pipeline SLAM tradicional produz um sistema mais robusto e preciso, mantendo operação em tempo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743200" cy="118872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-42%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EEF4"/>
                </a:solidFill>
              </a:defRPr>
            </a:pPr>
            <a:r>
              <a:t>Erro de Trajetória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vs ORB-SLAM3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743200" cy="118872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43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EEF4"/>
                </a:solidFill>
              </a:defRPr>
            </a:pPr>
            <a:r>
              <a:t>Robustez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71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em condições adversas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2743200" cy="1188720"/>
          </a:xfrm>
          <a:prstGeom prst="roundRect">
            <a:avLst/>
          </a:prstGeom>
          <a:solidFill>
            <a:srgbClr val="1A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240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18.3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EEF4"/>
                </a:solidFill>
              </a:defRPr>
            </a:pPr>
            <a:r>
              <a:t>FPS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71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A8FA8"/>
                </a:solidFill>
              </a:defRPr>
            </a:pPr>
            <a:r>
              <a:t>tempo real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 abordagem híbrida neural-geométrica representa uma direção promissora para sistemas SLAM de próxima geração, combinando o melhor dos dois paradigmas.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9634" y="210312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8EEF4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8EEF4"/>
                </a:solidFill>
              </a:defRPr>
            </a:pPr>
            <a:r>
              <a:t>Rodrigo Lucas Santos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A8FA8"/>
                </a:solidFill>
              </a:defRPr>
            </a:pPr>
            <a:r>
              <a:t>rodrigo.lucas@aluno.ufop.edu.br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1564" y="4023360"/>
            <a:ext cx="10808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D4FF"/>
                </a:solidFill>
              </a:defRPr>
            </a:pPr>
            <a:r>
              <a:rPr dirty="0"/>
              <a:t>github.com/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A8FA8"/>
                </a:solidFill>
              </a:defRPr>
            </a:pPr>
            <a:r>
              <a:t>DECOM/UFOP •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1110</Words>
  <Application>Microsoft Office PowerPoint</Application>
  <PresentationFormat>Apresentação na tela (16:9)</PresentationFormat>
  <Paragraphs>281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Rodrigo Lucas Santos</cp:lastModifiedBy>
  <cp:revision>2</cp:revision>
  <dcterms:created xsi:type="dcterms:W3CDTF">2013-01-27T09:14:16Z</dcterms:created>
  <dcterms:modified xsi:type="dcterms:W3CDTF">2026-01-05T14:14:08Z</dcterms:modified>
  <cp:category/>
</cp:coreProperties>
</file>